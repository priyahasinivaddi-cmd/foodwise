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317" r:id="rId5"/>
    <p:sldId id="307" r:id="rId6"/>
    <p:sldId id="308" r:id="rId7"/>
    <p:sldId id="278" r:id="rId8"/>
    <p:sldId id="309" r:id="rId9"/>
    <p:sldId id="263" r:id="rId10"/>
    <p:sldId id="310" r:id="rId11"/>
    <p:sldId id="311" r:id="rId12"/>
    <p:sldId id="312" r:id="rId13"/>
    <p:sldId id="316"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p:scale>
          <a:sx n="76" d="100"/>
          <a:sy n="76" d="100"/>
        </p:scale>
        <p:origin x="946" y="106"/>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9/17/2026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373627" y="275303"/>
            <a:ext cx="11415250" cy="6331973"/>
          </a:xfrm>
        </p:spPr>
        <p:txBody>
          <a:bodyPr anchor="ctr"/>
          <a:lstStyle/>
          <a:p>
            <a:br>
              <a:rPr lang="en-IN" dirty="0"/>
            </a:br>
            <a:br>
              <a:rPr lang="en-IN" dirty="0"/>
            </a:br>
            <a:r>
              <a:rPr lang="en-IN" dirty="0" err="1"/>
              <a:t>FoodWise</a:t>
            </a:r>
            <a:r>
              <a:rPr lang="en-IN" sz="3200" dirty="0"/>
              <a:t>: AI-Powered Food Waste Segregation &amp; Reduction Assistant</a:t>
            </a:r>
            <a:br>
              <a:rPr lang="en-IN" sz="3200" dirty="0"/>
            </a:br>
            <a:br>
              <a:rPr lang="en-IN" sz="3200" dirty="0"/>
            </a:br>
            <a:br>
              <a:rPr lang="en-IN" sz="3200" dirty="0"/>
            </a:br>
            <a:br>
              <a:rPr lang="en-IN" sz="3200" dirty="0"/>
            </a:br>
            <a:br>
              <a:rPr lang="en-IN" sz="2000" dirty="0"/>
            </a:br>
            <a:br>
              <a:rPr lang="en-IN" sz="1800" dirty="0"/>
            </a:br>
            <a:br>
              <a:rPr lang="en-IN" sz="1800" dirty="0"/>
            </a:br>
            <a:br>
              <a:rPr lang="en-IN" sz="1800" dirty="0"/>
            </a:br>
            <a:r>
              <a:rPr lang="en-IN" sz="1800" dirty="0"/>
              <a:t>                                                                                                                                                         VADDI  SRI  KANAKADURGA  PRIYAHASINI</a:t>
            </a:r>
            <a:br>
              <a:rPr lang="en-IN" sz="1800" dirty="0"/>
            </a:br>
            <a:br>
              <a:rPr lang="en-IN" sz="1800" dirty="0"/>
            </a:br>
            <a:r>
              <a:rPr lang="en-IN" sz="1800" dirty="0"/>
              <a:t>                                                                                   </a:t>
            </a:r>
            <a:br>
              <a:rPr lang="en-IN" sz="1800" dirty="0"/>
            </a:br>
            <a:r>
              <a:rPr lang="en-IN" sz="1800" dirty="0"/>
              <a:t>                                                                                     SDG Alignment: </a:t>
            </a:r>
            <a:r>
              <a:rPr lang="en-IN" sz="1800" b="1" dirty="0"/>
              <a:t>SDG 12 — Responsible Consumption and Production</a:t>
            </a:r>
            <a:br>
              <a:rPr lang="en-IN" sz="2000" dirty="0"/>
            </a:br>
            <a:endParaRPr lang="en-US" sz="2000"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IN" dirty="0"/>
              <a:t>Project Description</a:t>
            </a:r>
            <a:endParaRPr lang="en-US" dirty="0"/>
          </a:p>
        </p:txBody>
      </p:sp>
      <p:sp>
        <p:nvSpPr>
          <p:cNvPr id="5" name="TextBox 4">
            <a:extLst>
              <a:ext uri="{FF2B5EF4-FFF2-40B4-BE49-F238E27FC236}">
                <a16:creationId xmlns:a16="http://schemas.microsoft.com/office/drawing/2014/main" id="{B8D877F1-C733-C09B-BCD2-A6BCBAC1C762}"/>
              </a:ext>
            </a:extLst>
          </p:cNvPr>
          <p:cNvSpPr txBox="1"/>
          <p:nvPr/>
        </p:nvSpPr>
        <p:spPr>
          <a:xfrm>
            <a:off x="6518787" y="914400"/>
            <a:ext cx="5250426" cy="5170646"/>
          </a:xfrm>
          <a:prstGeom prst="rect">
            <a:avLst/>
          </a:prstGeom>
          <a:noFill/>
        </p:spPr>
        <p:txBody>
          <a:bodyPr wrap="square" rtlCol="0">
            <a:spAutoFit/>
          </a:bodyPr>
          <a:lstStyle/>
          <a:p>
            <a:r>
              <a:rPr lang="en-IN" sz="2400" dirty="0" err="1"/>
              <a:t>FoodWise</a:t>
            </a:r>
            <a:r>
              <a:rPr lang="en-IN" sz="2400" dirty="0"/>
              <a:t> is a cafeteria sustainability platform that helps institutions measure, segregate, and reduce food waste.</a:t>
            </a:r>
          </a:p>
          <a:p>
            <a:r>
              <a:rPr lang="en-IN" sz="2400" dirty="0"/>
              <a:t>It enables cafeterias to:</a:t>
            </a:r>
          </a:p>
          <a:p>
            <a:pPr marL="342900" lvl="0" indent="-342900">
              <a:buFont typeface="Arial" panose="020B0604020202020204" pitchFamily="34" charset="0"/>
              <a:buChar char="•"/>
            </a:pPr>
            <a:r>
              <a:rPr lang="en-IN" sz="2400" dirty="0"/>
              <a:t>Record food-waste batches manually</a:t>
            </a:r>
          </a:p>
          <a:p>
            <a:pPr marL="342900" lvl="0" indent="-342900">
              <a:buFont typeface="Arial" panose="020B0604020202020204" pitchFamily="34" charset="0"/>
              <a:buChar char="•"/>
            </a:pPr>
            <a:r>
              <a:rPr lang="en-IN" sz="2400" dirty="0"/>
              <a:t>Identify the source, category, quantity, and reason for waste</a:t>
            </a:r>
          </a:p>
          <a:p>
            <a:pPr marL="342900" lvl="0" indent="-342900">
              <a:buFont typeface="Arial" panose="020B0604020202020204" pitchFamily="34" charset="0"/>
              <a:buChar char="•"/>
            </a:pPr>
            <a:r>
              <a:rPr lang="en-IN" sz="2400" dirty="0"/>
              <a:t>Guide staff toward correct segregation and disposal</a:t>
            </a:r>
          </a:p>
          <a:p>
            <a:pPr marL="342900" lvl="0" indent="-342900">
              <a:buFont typeface="Arial" panose="020B0604020202020204" pitchFamily="34" charset="0"/>
              <a:buChar char="•"/>
            </a:pPr>
            <a:r>
              <a:rPr lang="en-IN" sz="2400" dirty="0"/>
              <a:t>Collect customer feedback on food quality and portion size</a:t>
            </a:r>
          </a:p>
          <a:p>
            <a:pPr marL="342900" lvl="0" indent="-342900">
              <a:buFont typeface="Arial" panose="020B0604020202020204" pitchFamily="34" charset="0"/>
              <a:buChar char="•"/>
            </a:pPr>
            <a:r>
              <a:rPr lang="en-IN" sz="2400" dirty="0"/>
              <a:t>Track patterns and suggest practical reduction actions</a:t>
            </a:r>
          </a:p>
          <a:p>
            <a:endParaRPr lang="en-IN" dirty="0"/>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226143" y="393290"/>
            <a:ext cx="8495070" cy="6213987"/>
          </a:xfrm>
        </p:spPr>
        <p:txBody>
          <a:bodyPr/>
          <a:lstStyle/>
          <a:p>
            <a:pPr lvl="0"/>
            <a:r>
              <a:rPr lang="en-IN" sz="2000" dirty="0"/>
              <a:t>Food waste in cafeterias is often not measured or properly segregated. As a result:</a:t>
            </a:r>
            <a:br>
              <a:rPr lang="en-IN" sz="2000" dirty="0"/>
            </a:br>
            <a:br>
              <a:rPr lang="en-IN" sz="2000" dirty="0"/>
            </a:br>
            <a:r>
              <a:rPr lang="en-IN" sz="2000" dirty="0"/>
              <a:t> 1. </a:t>
            </a:r>
            <a:r>
              <a:rPr lang="en-IN" sz="1800" dirty="0"/>
              <a:t>Edible surplus may be discarded unnecessarily.</a:t>
            </a:r>
            <a:br>
              <a:rPr lang="en-IN" sz="1800" dirty="0"/>
            </a:br>
            <a:br>
              <a:rPr lang="en-IN" sz="1800" dirty="0"/>
            </a:br>
            <a:r>
              <a:rPr lang="en-IN" sz="1800" dirty="0"/>
              <a:t>2. Organic waste gets mixed with packaging and general waste.</a:t>
            </a:r>
            <a:br>
              <a:rPr lang="en-IN" sz="1800" dirty="0"/>
            </a:br>
            <a:br>
              <a:rPr lang="en-IN" sz="1800" dirty="0"/>
            </a:br>
            <a:r>
              <a:rPr lang="en-IN" sz="1800" dirty="0"/>
              <a:t>3. Overproduction and large portions go unnoticed.</a:t>
            </a:r>
            <a:br>
              <a:rPr lang="en-IN" sz="1800" dirty="0"/>
            </a:br>
            <a:br>
              <a:rPr lang="en-IN" sz="1800" dirty="0"/>
            </a:br>
            <a:r>
              <a:rPr lang="en-IN" sz="1800" dirty="0"/>
              <a:t>4.Food service teams lack data to improve menu planning.</a:t>
            </a:r>
            <a:br>
              <a:rPr lang="en-IN" sz="1800" dirty="0"/>
            </a:br>
            <a:br>
              <a:rPr lang="en-IN" sz="1800" dirty="0"/>
            </a:br>
            <a:r>
              <a:rPr lang="en-IN" sz="1800" dirty="0"/>
              <a:t>5. More waste reaches landfill instead of composting or recovery streams.</a:t>
            </a:r>
            <a:br>
              <a:rPr lang="en-IN" sz="2000" dirty="0"/>
            </a:br>
            <a:br>
              <a:rPr lang="en-IN" sz="2000" dirty="0"/>
            </a:br>
            <a:br>
              <a:rPr lang="en-IN" sz="2000" dirty="0"/>
            </a:br>
            <a:br>
              <a:rPr lang="en-IN" sz="2000" dirty="0"/>
            </a:br>
            <a:br>
              <a:rPr lang="en-IN" sz="2000" dirty="0"/>
            </a:br>
            <a:r>
              <a:rPr lang="en-IN" sz="2000" b="1" dirty="0"/>
              <a:t>Problem statement:</a:t>
            </a:r>
            <a:br>
              <a:rPr lang="en-IN" sz="2000" dirty="0"/>
            </a:br>
            <a:r>
              <a:rPr lang="en-IN" sz="2000" dirty="0"/>
              <a:t>“How can cafeterias use intelligent, data-driven support to correctly segregate food waste and reduce avoidable waste?”</a:t>
            </a:r>
            <a:br>
              <a:rPr lang="en-IN" sz="2000" dirty="0"/>
            </a:br>
            <a:endParaRPr lang="en-US" sz="2000" dirty="0"/>
          </a:p>
        </p:txBody>
      </p:sp>
      <p:sp>
        <p:nvSpPr>
          <p:cNvPr id="5" name="TextBox 4">
            <a:extLst>
              <a:ext uri="{FF2B5EF4-FFF2-40B4-BE49-F238E27FC236}">
                <a16:creationId xmlns:a16="http://schemas.microsoft.com/office/drawing/2014/main" id="{627B950A-1DC8-F15E-AD53-AF0BD3F13112}"/>
              </a:ext>
            </a:extLst>
          </p:cNvPr>
          <p:cNvSpPr txBox="1"/>
          <p:nvPr/>
        </p:nvSpPr>
        <p:spPr>
          <a:xfrm>
            <a:off x="8721212" y="2930012"/>
            <a:ext cx="3470787" cy="1446550"/>
          </a:xfrm>
          <a:prstGeom prst="rect">
            <a:avLst/>
          </a:prstGeom>
          <a:noFill/>
        </p:spPr>
        <p:txBody>
          <a:bodyPr wrap="square" rtlCol="0">
            <a:spAutoFit/>
          </a:bodyPr>
          <a:lstStyle/>
          <a:p>
            <a:r>
              <a:rPr lang="en-IN" sz="4400" b="1" dirty="0"/>
              <a:t>Problem Statement</a:t>
            </a:r>
            <a:endParaRPr lang="en-IN" sz="4400" dirty="0"/>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flipH="1">
            <a:off x="275303" y="1553496"/>
            <a:ext cx="4503174" cy="2320414"/>
          </a:xfrm>
        </p:spPr>
        <p:txBody>
          <a:bodyPr anchor="b"/>
          <a:lstStyle/>
          <a:p>
            <a:r>
              <a:rPr lang="en-IN" dirty="0"/>
              <a:t>AI Solution Overview</a:t>
            </a:r>
            <a:endParaRPr lang="en-US" dirty="0"/>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046133" y="530942"/>
            <a:ext cx="6614925" cy="6065278"/>
          </a:xfrm>
        </p:spPr>
        <p:txBody>
          <a:bodyPr/>
          <a:lstStyle/>
          <a:p>
            <a:r>
              <a:rPr lang="en-IN" sz="2000" cap="none" dirty="0"/>
              <a:t>Foodwise works as an intelligent decision-support assistant for cafeteria waste management.</a:t>
            </a:r>
          </a:p>
          <a:p>
            <a:r>
              <a:rPr lang="en-IN" sz="2000" b="1" cap="none" dirty="0"/>
              <a:t>How it helps:</a:t>
            </a:r>
            <a:endParaRPr lang="en-IN" sz="2000" cap="none" dirty="0"/>
          </a:p>
          <a:p>
            <a:pPr marL="342900" lvl="0" indent="-342900">
              <a:buFont typeface="Arial" panose="020B0604020202020204" pitchFamily="34" charset="0"/>
              <a:buChar char="•"/>
            </a:pPr>
            <a:r>
              <a:rPr lang="en-IN" sz="2000" cap="none" dirty="0"/>
              <a:t>Staff enter waste details such as food item, quantity, source, meal period, and likely reason.</a:t>
            </a:r>
          </a:p>
          <a:p>
            <a:pPr marL="342900" lvl="0" indent="-342900">
              <a:buFont typeface="Arial" panose="020B0604020202020204" pitchFamily="34" charset="0"/>
              <a:buChar char="•"/>
            </a:pPr>
            <a:r>
              <a:rPr lang="en-IN" sz="2000" cap="none" dirty="0"/>
              <a:t>The system categorizes the waste and provides a recommended action.</a:t>
            </a:r>
          </a:p>
          <a:p>
            <a:pPr marL="342900" lvl="0" indent="-342900">
              <a:buFont typeface="Arial" panose="020B0604020202020204" pitchFamily="34" charset="0"/>
              <a:buChar char="•"/>
            </a:pPr>
            <a:r>
              <a:rPr lang="en-IN" sz="2000" cap="none" dirty="0"/>
              <a:t>Dashboard analytics identify patterns, such as high plate waste or repeated overproduction.</a:t>
            </a:r>
          </a:p>
          <a:p>
            <a:pPr marL="342900" lvl="0" indent="-342900">
              <a:buFont typeface="Arial" panose="020B0604020202020204" pitchFamily="34" charset="0"/>
              <a:buChar char="•"/>
            </a:pPr>
            <a:r>
              <a:rPr lang="en-IN" sz="2000" cap="none" dirty="0"/>
              <a:t>Staff and managers receive insights to improve portions, preparation quantity, menus, and inventory use.</a:t>
            </a:r>
          </a:p>
          <a:p>
            <a:pPr lvl="0"/>
            <a:endParaRPr lang="en-IN" sz="2000" cap="none" dirty="0"/>
          </a:p>
          <a:p>
            <a:r>
              <a:rPr lang="en-IN" sz="2000" b="1" cap="none" dirty="0"/>
              <a:t>Example insight:</a:t>
            </a:r>
            <a:br>
              <a:rPr lang="en-IN" sz="2000" cap="none" dirty="0"/>
            </a:br>
            <a:r>
              <a:rPr lang="en-IN" sz="2000" cap="none" dirty="0"/>
              <a:t>“if cooked rice waste is repeatedly high after lunch, reduce preparation quantity or offer smaller portions.”</a:t>
            </a:r>
          </a:p>
          <a:p>
            <a:endParaRPr lang="en-US" dirty="0"/>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408040"/>
            <a:ext cx="7534656" cy="1145458"/>
          </a:xfrm>
        </p:spPr>
        <p:txBody>
          <a:bodyPr/>
          <a:lstStyle/>
          <a:p>
            <a:r>
              <a:rPr lang="en-IN" dirty="0"/>
              <a:t>Target Users :</a:t>
            </a:r>
            <a:endParaRPr lang="en-US"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717755" y="1828801"/>
            <a:ext cx="10048568" cy="4621160"/>
          </a:xfrm>
        </p:spPr>
        <p:txBody>
          <a:bodyPr>
            <a:normAutofit/>
          </a:bodyPr>
          <a:lstStyle/>
          <a:p>
            <a:pPr marL="0" indent="0">
              <a:buNone/>
            </a:pPr>
            <a:r>
              <a:rPr lang="en-IN" b="1" dirty="0"/>
              <a:t>Canteen staff</a:t>
            </a:r>
            <a:endParaRPr lang="en-IN" dirty="0"/>
          </a:p>
          <a:p>
            <a:pPr lvl="0"/>
            <a:r>
              <a:rPr lang="en-IN" dirty="0"/>
              <a:t>Record waste and follow segregation guidance.</a:t>
            </a:r>
          </a:p>
          <a:p>
            <a:pPr marL="0" lvl="0" indent="0">
              <a:buNone/>
            </a:pPr>
            <a:endParaRPr lang="en-IN" dirty="0"/>
          </a:p>
          <a:p>
            <a:pPr marL="0" indent="0">
              <a:buNone/>
            </a:pPr>
            <a:r>
              <a:rPr lang="en-IN" b="1" dirty="0"/>
              <a:t>Canteen managers</a:t>
            </a:r>
            <a:endParaRPr lang="en-IN" dirty="0"/>
          </a:p>
          <a:p>
            <a:pPr lvl="0"/>
            <a:r>
              <a:rPr lang="en-IN" dirty="0"/>
              <a:t>Monitor trends, set reduction targets, review reports, and take action.</a:t>
            </a:r>
          </a:p>
          <a:p>
            <a:pPr marL="0" lvl="0" indent="0">
              <a:buNone/>
            </a:pPr>
            <a:endParaRPr lang="en-IN" dirty="0"/>
          </a:p>
          <a:p>
            <a:pPr marL="0" indent="0">
              <a:buNone/>
            </a:pPr>
            <a:r>
              <a:rPr lang="en-IN" b="1" dirty="0"/>
              <a:t>Students / customers</a:t>
            </a:r>
            <a:endParaRPr lang="en-IN" dirty="0"/>
          </a:p>
          <a:p>
            <a:pPr lvl="0"/>
            <a:r>
              <a:rPr lang="en-IN" dirty="0"/>
              <a:t>Submit feedback on meals, portion size, and leftovers.</a:t>
            </a:r>
          </a:p>
          <a:p>
            <a:pPr marL="0" lvl="0" indent="0">
              <a:buNone/>
            </a:pPr>
            <a:endParaRPr lang="en-IN" dirty="0"/>
          </a:p>
          <a:p>
            <a:pPr marL="0" indent="0">
              <a:buNone/>
            </a:pPr>
            <a:r>
              <a:rPr lang="en-IN" b="1" dirty="0"/>
              <a:t>Institutions</a:t>
            </a:r>
            <a:endParaRPr lang="en-IN" dirty="0"/>
          </a:p>
          <a:p>
            <a:pPr lvl="0"/>
            <a:r>
              <a:rPr lang="en-IN" dirty="0"/>
              <a:t>Use reports to improve sustainability performance and reduce operating costs.</a:t>
            </a:r>
          </a:p>
          <a:p>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231058"/>
            <a:ext cx="10360152" cy="1056968"/>
          </a:xfrm>
        </p:spPr>
        <p:txBody>
          <a:bodyPr anchor="b"/>
          <a:lstStyle/>
          <a:p>
            <a:r>
              <a:rPr lang="en-IN" sz="4000" dirty="0" err="1"/>
              <a:t>FoodWise</a:t>
            </a:r>
            <a:r>
              <a:rPr lang="en-IN" sz="4000" dirty="0"/>
              <a:t> Prototype Features :</a:t>
            </a:r>
            <a:endParaRPr lang="en-US" sz="4000" dirty="0"/>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816077" y="1288026"/>
            <a:ext cx="10776155" cy="5338916"/>
          </a:xfrm>
        </p:spPr>
        <p:txBody>
          <a:bodyPr>
            <a:normAutofit/>
          </a:bodyPr>
          <a:lstStyle/>
          <a:p>
            <a:pPr algn="l"/>
            <a:r>
              <a:rPr lang="en-IN" cap="none" dirty="0"/>
              <a:t>The foodwise prototype includes:</a:t>
            </a:r>
          </a:p>
          <a:p>
            <a:pPr algn="l"/>
            <a:endParaRPr lang="en-IN" cap="none" dirty="0"/>
          </a:p>
          <a:p>
            <a:pPr marL="342900" lvl="0" indent="-342900" algn="l">
              <a:buFont typeface="Arial" panose="020B0604020202020204" pitchFamily="34" charset="0"/>
              <a:buChar char="•"/>
            </a:pPr>
            <a:r>
              <a:rPr lang="en-IN" sz="1800" cap="none" dirty="0"/>
              <a:t>Role-based access for customer, staff, and manager</a:t>
            </a:r>
          </a:p>
          <a:p>
            <a:pPr lvl="0" algn="l"/>
            <a:endParaRPr lang="en-IN" sz="1800" cap="none" dirty="0"/>
          </a:p>
          <a:p>
            <a:pPr marL="342900" lvl="0" indent="-342900" algn="l">
              <a:buFont typeface="Arial" panose="020B0604020202020204" pitchFamily="34" charset="0"/>
              <a:buChar char="•"/>
            </a:pPr>
            <a:r>
              <a:rPr lang="en-IN" sz="1800" cap="none" dirty="0"/>
              <a:t>Waste recording with item, category, source, weight, meal period, and reason</a:t>
            </a:r>
          </a:p>
          <a:p>
            <a:pPr marL="342900" lvl="0" indent="-342900" algn="l">
              <a:buFont typeface="Arial" panose="020B0604020202020204" pitchFamily="34" charset="0"/>
              <a:buChar char="•"/>
            </a:pPr>
            <a:endParaRPr lang="en-IN" sz="1800" cap="none" dirty="0"/>
          </a:p>
          <a:p>
            <a:pPr marL="342900" lvl="0" indent="-342900" algn="l">
              <a:buFont typeface="Arial" panose="020B0604020202020204" pitchFamily="34" charset="0"/>
              <a:buChar char="•"/>
            </a:pPr>
            <a:r>
              <a:rPr lang="en-IN" sz="1800" cap="none" dirty="0"/>
              <a:t>Segregation and disposal recommendations</a:t>
            </a:r>
          </a:p>
          <a:p>
            <a:pPr marL="342900" lvl="0" indent="-342900" algn="l">
              <a:buFont typeface="Arial" panose="020B0604020202020204" pitchFamily="34" charset="0"/>
              <a:buChar char="•"/>
            </a:pPr>
            <a:endParaRPr lang="en-IN" sz="1800" cap="none" dirty="0"/>
          </a:p>
          <a:p>
            <a:pPr marL="342900" lvl="0" indent="-342900" algn="l">
              <a:buFont typeface="Arial" panose="020B0604020202020204" pitchFamily="34" charset="0"/>
              <a:buChar char="•"/>
            </a:pPr>
            <a:r>
              <a:rPr lang="en-IN" sz="1800" cap="none" dirty="0"/>
              <a:t>Waste dashboard with total waste, waste per 100 meals, and segregation rate</a:t>
            </a:r>
          </a:p>
          <a:p>
            <a:pPr marL="342900" lvl="0" indent="-342900" algn="l">
              <a:buFont typeface="Arial" panose="020B0604020202020204" pitchFamily="34" charset="0"/>
              <a:buChar char="•"/>
            </a:pPr>
            <a:endParaRPr lang="en-IN" sz="1800" cap="none" dirty="0"/>
          </a:p>
          <a:p>
            <a:pPr marL="342900" lvl="0" indent="-342900" algn="l">
              <a:buFont typeface="Arial" panose="020B0604020202020204" pitchFamily="34" charset="0"/>
              <a:buChar char="•"/>
            </a:pPr>
            <a:r>
              <a:rPr lang="en-IN" sz="1800" cap="none" dirty="0"/>
              <a:t>Customer feedback and portion-size suggestions</a:t>
            </a:r>
          </a:p>
          <a:p>
            <a:pPr marL="342900" lvl="0" indent="-342900" algn="l">
              <a:buFont typeface="Arial" panose="020B0604020202020204" pitchFamily="34" charset="0"/>
              <a:buChar char="•"/>
            </a:pPr>
            <a:endParaRPr lang="en-IN" sz="1800" cap="none" dirty="0"/>
          </a:p>
          <a:p>
            <a:pPr marL="342900" lvl="0" indent="-342900" algn="l">
              <a:buFont typeface="Arial" panose="020B0604020202020204" pitchFamily="34" charset="0"/>
              <a:buChar char="•"/>
            </a:pPr>
            <a:r>
              <a:rPr lang="en-IN" sz="1800" cap="none" dirty="0"/>
              <a:t>Demand planning using meals prepared, meals served, and untouched surplus</a:t>
            </a:r>
          </a:p>
          <a:p>
            <a:pPr marL="342900" lvl="0" indent="-342900" algn="l">
              <a:buFont typeface="Arial" panose="020B0604020202020204" pitchFamily="34" charset="0"/>
              <a:buChar char="•"/>
            </a:pPr>
            <a:endParaRPr lang="en-IN" sz="1800" cap="none" dirty="0"/>
          </a:p>
          <a:p>
            <a:pPr marL="342900" lvl="0" indent="-342900" algn="l">
              <a:buFont typeface="Arial" panose="020B0604020202020204" pitchFamily="34" charset="0"/>
              <a:buChar char="•"/>
            </a:pPr>
            <a:r>
              <a:rPr lang="en-IN" sz="1800" cap="none" dirty="0"/>
              <a:t>Inventory and expiry-date tracking</a:t>
            </a:r>
          </a:p>
          <a:p>
            <a:pPr marL="342900" lvl="0" indent="-342900" algn="l">
              <a:buFont typeface="Arial" panose="020B0604020202020204" pitchFamily="34" charset="0"/>
              <a:buChar char="•"/>
            </a:pPr>
            <a:endParaRPr lang="en-IN" sz="1800" cap="none" dirty="0"/>
          </a:p>
          <a:p>
            <a:pPr marL="342900" lvl="0" indent="-342900" algn="l">
              <a:buFont typeface="Arial" panose="020B0604020202020204" pitchFamily="34" charset="0"/>
              <a:buChar char="•"/>
            </a:pPr>
            <a:r>
              <a:rPr lang="en-IN" sz="1800" cap="none" dirty="0"/>
              <a:t>PDF and CSV reporting</a:t>
            </a:r>
          </a:p>
          <a:p>
            <a:endParaRPr lang="en-US" dirty="0"/>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IN" dirty="0" err="1"/>
              <a:t>FoodWise</a:t>
            </a:r>
            <a:r>
              <a:rPr lang="en-IN" dirty="0"/>
              <a:t> workflow :</a:t>
            </a:r>
            <a:endParaRPr lang="en-US"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550606" y="1907458"/>
            <a:ext cx="6518788" cy="4680155"/>
          </a:xfrm>
        </p:spPr>
        <p:txBody>
          <a:bodyPr>
            <a:normAutofit fontScale="92500" lnSpcReduction="10000"/>
          </a:bodyPr>
          <a:lstStyle/>
          <a:p>
            <a:r>
              <a:rPr lang="en-US" dirty="0"/>
              <a:t>Food waste is generated</a:t>
            </a:r>
          </a:p>
          <a:p>
            <a:r>
              <a:rPr lang="en-US" dirty="0"/>
              <a:t>          ↓</a:t>
            </a:r>
          </a:p>
          <a:p>
            <a:r>
              <a:rPr lang="en-US" dirty="0"/>
              <a:t>Staff records waste details</a:t>
            </a:r>
          </a:p>
          <a:p>
            <a:r>
              <a:rPr lang="en-US" dirty="0"/>
              <a:t>          ↓</a:t>
            </a:r>
          </a:p>
          <a:p>
            <a:r>
              <a:rPr lang="en-US" dirty="0"/>
              <a:t>System identifies category and source</a:t>
            </a:r>
          </a:p>
          <a:p>
            <a:r>
              <a:rPr lang="en-US" dirty="0"/>
              <a:t>          ↓</a:t>
            </a:r>
          </a:p>
          <a:p>
            <a:r>
              <a:rPr lang="en-US" dirty="0"/>
              <a:t>Recommended segregation action is shown</a:t>
            </a:r>
          </a:p>
          <a:p>
            <a:r>
              <a:rPr lang="en-US" dirty="0"/>
              <a:t>          ↓</a:t>
            </a:r>
          </a:p>
          <a:p>
            <a:r>
              <a:rPr lang="en-US" dirty="0"/>
              <a:t>Data is stored on dashboard</a:t>
            </a:r>
          </a:p>
          <a:p>
            <a:r>
              <a:rPr lang="en-US" dirty="0"/>
              <a:t>          ↓</a:t>
            </a:r>
          </a:p>
          <a:p>
            <a:r>
              <a:rPr lang="en-US" dirty="0"/>
              <a:t>Trends and reduction insights are generated</a:t>
            </a:r>
          </a:p>
          <a:p>
            <a:r>
              <a:rPr lang="en-US" dirty="0"/>
              <a:t>          ↓</a:t>
            </a:r>
          </a:p>
          <a:p>
            <a:r>
              <a:rPr lang="en-US" dirty="0"/>
              <a:t>Manager improves portions, menu planning, and inventory use</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4" name="Content Placeholder 3">
            <a:extLst>
              <a:ext uri="{FF2B5EF4-FFF2-40B4-BE49-F238E27FC236}">
                <a16:creationId xmlns:a16="http://schemas.microsoft.com/office/drawing/2014/main" id="{65851886-29D7-E0ED-A581-18B5C4EC099F}"/>
              </a:ext>
            </a:extLst>
          </p:cNvPr>
          <p:cNvSpPr>
            <a:spLocks noGrp="1"/>
          </p:cNvSpPr>
          <p:nvPr>
            <p:ph sz="quarter" idx="12"/>
          </p:nvPr>
        </p:nvSpPr>
        <p:spPr>
          <a:xfrm>
            <a:off x="6357747" y="2039112"/>
            <a:ext cx="5214821" cy="4165043"/>
          </a:xfrm>
        </p:spPr>
        <p:txBody>
          <a:bodyPr>
            <a:normAutofit/>
          </a:bodyPr>
          <a:lstStyle/>
          <a:p>
            <a:r>
              <a:rPr lang="en-IN" sz="2400" b="1" dirty="0"/>
              <a:t>Example:</a:t>
            </a:r>
          </a:p>
          <a:p>
            <a:r>
              <a:rPr lang="en-US" sz="1800" dirty="0"/>
              <a:t>Food item: Cooked rice</a:t>
            </a:r>
          </a:p>
          <a:p>
            <a:r>
              <a:rPr lang="en-US" sz="1800" dirty="0"/>
              <a:t>Source: Customer plate waste</a:t>
            </a:r>
          </a:p>
          <a:p>
            <a:r>
              <a:rPr lang="en-US" sz="1800" dirty="0"/>
              <a:t>Likely reason: Large portion size</a:t>
            </a:r>
          </a:p>
          <a:p>
            <a:r>
              <a:rPr lang="en-US" sz="1800" dirty="0"/>
              <a:t>Recommended action:</a:t>
            </a:r>
          </a:p>
          <a:p>
            <a:r>
              <a:rPr lang="en-US" sz="1800" dirty="0"/>
              <a:t>Send uncontaminated food waste to the approved organic-waste/</a:t>
            </a:r>
          </a:p>
          <a:p>
            <a:r>
              <a:rPr lang="en-US" sz="1800" dirty="0"/>
              <a:t>composting stream and consider smaller rice portions.</a:t>
            </a:r>
            <a:endParaRPr lang="en-IN" sz="1800" dirty="0"/>
          </a:p>
        </p:txBody>
      </p:sp>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IN" dirty="0"/>
              <a:t>Responsible AI Considerations :</a:t>
            </a:r>
            <a:endParaRPr lang="en-US" dirty="0"/>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707923" y="2039111"/>
            <a:ext cx="11061290" cy="4479675"/>
          </a:xfrm>
        </p:spPr>
        <p:txBody>
          <a:bodyPr>
            <a:normAutofit/>
          </a:bodyPr>
          <a:lstStyle/>
          <a:p>
            <a:r>
              <a:rPr lang="en-IN" dirty="0" err="1"/>
              <a:t>FoodWise</a:t>
            </a:r>
            <a:r>
              <a:rPr lang="en-IN" dirty="0"/>
              <a:t> is designed to support people, not replace their decisions.</a:t>
            </a:r>
          </a:p>
          <a:p>
            <a:pPr marL="342900" lvl="0" indent="-342900">
              <a:buFont typeface="Arial" panose="020B0604020202020204" pitchFamily="34" charset="0"/>
              <a:buChar char="•"/>
            </a:pPr>
            <a:r>
              <a:rPr lang="en-IN" b="1" dirty="0"/>
              <a:t>Human oversight:</a:t>
            </a:r>
            <a:r>
              <a:rPr lang="en-IN" dirty="0"/>
              <a:t> Staff verify waste details and disposal actions.</a:t>
            </a:r>
          </a:p>
          <a:p>
            <a:pPr marL="342900" lvl="0" indent="-342900">
              <a:buFont typeface="Arial" panose="020B0604020202020204" pitchFamily="34" charset="0"/>
              <a:buChar char="•"/>
            </a:pPr>
            <a:r>
              <a:rPr lang="en-IN" b="1" dirty="0"/>
              <a:t>Privacy:</a:t>
            </a:r>
            <a:r>
              <a:rPr lang="en-IN" dirty="0"/>
              <a:t> Customer feedback can be submitted anonymously.</a:t>
            </a:r>
          </a:p>
          <a:p>
            <a:pPr marL="342900" lvl="0" indent="-342900">
              <a:buFont typeface="Arial" panose="020B0604020202020204" pitchFamily="34" charset="0"/>
              <a:buChar char="•"/>
            </a:pPr>
            <a:r>
              <a:rPr lang="en-IN" b="1" dirty="0"/>
              <a:t>Data minimisation:</a:t>
            </a:r>
            <a:r>
              <a:rPr lang="en-IN" dirty="0"/>
              <a:t> Only relevant cafeteria and waste-management data is collected.</a:t>
            </a:r>
          </a:p>
          <a:p>
            <a:pPr marL="342900" lvl="0" indent="-342900">
              <a:buFont typeface="Arial" panose="020B0604020202020204" pitchFamily="34" charset="0"/>
              <a:buChar char="•"/>
            </a:pPr>
            <a:r>
              <a:rPr lang="en-IN" b="1" dirty="0"/>
              <a:t>Fairness:</a:t>
            </a:r>
            <a:r>
              <a:rPr lang="en-IN" dirty="0"/>
              <a:t> Recommendations should work for different dietary preferences and meal choices.</a:t>
            </a:r>
          </a:p>
          <a:p>
            <a:pPr marL="342900" lvl="0" indent="-342900">
              <a:buFont typeface="Arial" panose="020B0604020202020204" pitchFamily="34" charset="0"/>
              <a:buChar char="•"/>
            </a:pPr>
            <a:r>
              <a:rPr lang="en-IN" b="1" dirty="0"/>
              <a:t>Accuracy:</a:t>
            </a:r>
            <a:r>
              <a:rPr lang="en-IN" dirty="0"/>
              <a:t> The system’s recommendations must be reviewed against local food-safety and waste-disposal rules.</a:t>
            </a:r>
          </a:p>
          <a:p>
            <a:pPr marL="342900" lvl="0" indent="-342900">
              <a:buFont typeface="Arial" panose="020B0604020202020204" pitchFamily="34" charset="0"/>
              <a:buChar char="•"/>
            </a:pPr>
            <a:r>
              <a:rPr lang="en-IN" b="1" dirty="0"/>
              <a:t>Transparency:</a:t>
            </a:r>
            <a:r>
              <a:rPr lang="en-IN" dirty="0"/>
              <a:t> The system explains why an action is recommended, such as overproduction or portion size.</a:t>
            </a:r>
          </a:p>
          <a:p>
            <a:r>
              <a:rPr lang="en-IN" dirty="0"/>
              <a:t>Important note: </a:t>
            </a:r>
            <a:r>
              <a:rPr lang="en-IN" dirty="0" err="1"/>
              <a:t>FoodWise</a:t>
            </a:r>
            <a:r>
              <a:rPr lang="en-IN" dirty="0"/>
              <a:t> should be presented as an </a:t>
            </a:r>
            <a:r>
              <a:rPr lang="en-IN" b="1" dirty="0"/>
              <a:t>AI-enabled decision-support prototype</a:t>
            </a:r>
            <a:r>
              <a:rPr lang="en-IN" dirty="0"/>
              <a:t> using structured data, trend analysis, and recommendation logic.</a:t>
            </a:r>
          </a:p>
          <a:p>
            <a:endParaRPr lang="en-US"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IN" dirty="0"/>
              <a:t>                                     Expected Impact</a:t>
            </a:r>
            <a:endParaRPr lang="en-US" dirty="0"/>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235975" y="2039111"/>
            <a:ext cx="7098890" cy="4617328"/>
          </a:xfrm>
        </p:spPr>
        <p:txBody>
          <a:bodyPr>
            <a:normAutofit/>
          </a:bodyPr>
          <a:lstStyle/>
          <a:p>
            <a:r>
              <a:rPr lang="en-IN" dirty="0"/>
              <a:t>If </a:t>
            </a:r>
            <a:r>
              <a:rPr lang="en-IN" dirty="0" err="1"/>
              <a:t>FoodWise</a:t>
            </a:r>
            <a:r>
              <a:rPr lang="en-IN" dirty="0"/>
              <a:t> is implemented in cafeterias:</a:t>
            </a:r>
          </a:p>
          <a:p>
            <a:pPr marL="342900" lvl="0" indent="-342900">
              <a:buFont typeface="Arial" panose="020B0604020202020204" pitchFamily="34" charset="0"/>
              <a:buChar char="•"/>
            </a:pPr>
            <a:r>
              <a:rPr lang="en-IN" dirty="0"/>
              <a:t>Food waste becomes visible, measurable, and easier to manage.</a:t>
            </a:r>
          </a:p>
          <a:p>
            <a:pPr marL="342900" lvl="0" indent="-342900">
              <a:buFont typeface="Arial" panose="020B0604020202020204" pitchFamily="34" charset="0"/>
              <a:buChar char="•"/>
            </a:pPr>
            <a:r>
              <a:rPr lang="en-IN" dirty="0"/>
              <a:t>More organic food waste can be diverted to composting or approved processing.</a:t>
            </a:r>
          </a:p>
          <a:p>
            <a:pPr marL="342900" lvl="0" indent="-342900">
              <a:buFont typeface="Arial" panose="020B0604020202020204" pitchFamily="34" charset="0"/>
              <a:buChar char="•"/>
            </a:pPr>
            <a:r>
              <a:rPr lang="en-IN" dirty="0"/>
              <a:t>Managers can reduce overproduction through demand-based planning.</a:t>
            </a:r>
          </a:p>
          <a:p>
            <a:pPr marL="342900" lvl="0" indent="-342900">
              <a:buFont typeface="Arial" panose="020B0604020202020204" pitchFamily="34" charset="0"/>
              <a:buChar char="•"/>
            </a:pPr>
            <a:r>
              <a:rPr lang="en-IN" dirty="0"/>
              <a:t>Smaller or flexible portions can reduce plate waste.</a:t>
            </a:r>
          </a:p>
          <a:p>
            <a:pPr marL="342900" lvl="0" indent="-342900">
              <a:buFont typeface="Arial" panose="020B0604020202020204" pitchFamily="34" charset="0"/>
              <a:buChar char="•"/>
            </a:pPr>
            <a:r>
              <a:rPr lang="en-IN" dirty="0"/>
              <a:t>Inventory alerts can help use ingredients before they expire.</a:t>
            </a:r>
          </a:p>
          <a:p>
            <a:pPr marL="342900" lvl="0" indent="-342900">
              <a:buFont typeface="Arial" panose="020B0604020202020204" pitchFamily="34" charset="0"/>
              <a:buChar char="•"/>
            </a:pPr>
            <a:r>
              <a:rPr lang="en-IN" dirty="0"/>
              <a:t>Customer feedback can improve menu quality and satisfaction.</a:t>
            </a:r>
          </a:p>
          <a:p>
            <a:endParaRPr lang="en-US" dirty="0"/>
          </a:p>
        </p:txBody>
      </p:sp>
      <p:sp>
        <p:nvSpPr>
          <p:cNvPr id="6" name="TextBox 5">
            <a:extLst>
              <a:ext uri="{FF2B5EF4-FFF2-40B4-BE49-F238E27FC236}">
                <a16:creationId xmlns:a16="http://schemas.microsoft.com/office/drawing/2014/main" id="{C6CE5867-EEDA-C3CA-0172-C2D3C037006A}"/>
              </a:ext>
            </a:extLst>
          </p:cNvPr>
          <p:cNvSpPr txBox="1"/>
          <p:nvPr/>
        </p:nvSpPr>
        <p:spPr>
          <a:xfrm>
            <a:off x="7620000" y="2231923"/>
            <a:ext cx="4119716" cy="2616101"/>
          </a:xfrm>
          <a:prstGeom prst="rect">
            <a:avLst/>
          </a:prstGeom>
          <a:noFill/>
        </p:spPr>
        <p:txBody>
          <a:bodyPr wrap="square" rtlCol="0">
            <a:spAutoFit/>
          </a:bodyPr>
          <a:lstStyle/>
          <a:p>
            <a:r>
              <a:rPr lang="en-IN" sz="2400" b="1" dirty="0"/>
              <a:t>Key metrics to track:</a:t>
            </a:r>
            <a:endParaRPr lang="en-IN" sz="2400" dirty="0"/>
          </a:p>
          <a:p>
            <a:pPr marL="342900" lvl="0" indent="-342900">
              <a:buFont typeface="Arial" panose="020B0604020202020204" pitchFamily="34" charset="0"/>
              <a:buChar char="•"/>
            </a:pPr>
            <a:r>
              <a:rPr lang="en-IN" sz="2000" dirty="0"/>
              <a:t>Total waste in kilograms</a:t>
            </a:r>
          </a:p>
          <a:p>
            <a:pPr marL="342900" lvl="0" indent="-342900">
              <a:buFont typeface="Arial" panose="020B0604020202020204" pitchFamily="34" charset="0"/>
              <a:buChar char="•"/>
            </a:pPr>
            <a:r>
              <a:rPr lang="en-IN" sz="2000" dirty="0"/>
              <a:t>Waste per 100 meals served</a:t>
            </a:r>
          </a:p>
          <a:p>
            <a:pPr marL="342900" lvl="0" indent="-342900">
              <a:buFont typeface="Arial" panose="020B0604020202020204" pitchFamily="34" charset="0"/>
              <a:buChar char="•"/>
            </a:pPr>
            <a:r>
              <a:rPr lang="en-IN" sz="2000" dirty="0"/>
              <a:t>Correct segregation rate</a:t>
            </a:r>
          </a:p>
          <a:p>
            <a:pPr marL="342900" lvl="0" indent="-342900">
              <a:buFont typeface="Arial" panose="020B0604020202020204" pitchFamily="34" charset="0"/>
              <a:buChar char="•"/>
            </a:pPr>
            <a:r>
              <a:rPr lang="en-IN" sz="2000" dirty="0"/>
              <a:t>Untouched surplus</a:t>
            </a:r>
          </a:p>
          <a:p>
            <a:pPr marL="342900" lvl="0" indent="-342900">
              <a:buFont typeface="Arial" panose="020B0604020202020204" pitchFamily="34" charset="0"/>
              <a:buChar char="•"/>
            </a:pPr>
            <a:r>
              <a:rPr lang="en-IN" sz="2000" dirty="0"/>
              <a:t>Plate waste</a:t>
            </a:r>
          </a:p>
          <a:p>
            <a:pPr marL="342900" lvl="0" indent="-342900">
              <a:buFont typeface="Arial" panose="020B0604020202020204" pitchFamily="34" charset="0"/>
              <a:buChar char="•"/>
            </a:pPr>
            <a:r>
              <a:rPr lang="en-IN" sz="2000" dirty="0"/>
              <a:t>Expired inventory items</a:t>
            </a:r>
          </a:p>
          <a:p>
            <a:pPr marL="342900" lvl="0" indent="-342900">
              <a:buFont typeface="Arial" panose="020B0604020202020204" pitchFamily="34" charset="0"/>
              <a:buChar char="•"/>
            </a:pPr>
            <a:r>
              <a:rPr lang="en-IN" sz="2000" dirty="0"/>
              <a:t>Reduction in weekly/monthly waste</a:t>
            </a:r>
          </a:p>
        </p:txBody>
      </p:sp>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p:txBody>
          <a:bodyPr/>
          <a:lstStyle/>
          <a:p>
            <a:r>
              <a:rPr lang="en-IN" dirty="0"/>
              <a:t>Impact Statement &amp; Conclusion</a:t>
            </a:r>
            <a:r>
              <a:rPr lang="en-US" sz="3200" dirty="0"/>
              <a:t> </a:t>
            </a:r>
            <a:endParaRPr lang="en-US" dirty="0"/>
          </a:p>
        </p:txBody>
      </p:sp>
      <p:sp>
        <p:nvSpPr>
          <p:cNvPr id="3" name="Content Placeholder 2">
            <a:extLst>
              <a:ext uri="{FF2B5EF4-FFF2-40B4-BE49-F238E27FC236}">
                <a16:creationId xmlns:a16="http://schemas.microsoft.com/office/drawing/2014/main" id="{CF3ADB94-FC21-07C5-1FC9-E729C5DEDFC6}"/>
              </a:ext>
            </a:extLst>
          </p:cNvPr>
          <p:cNvSpPr>
            <a:spLocks noGrp="1"/>
          </p:cNvSpPr>
          <p:nvPr>
            <p:ph sz="quarter" idx="12"/>
          </p:nvPr>
        </p:nvSpPr>
        <p:spPr>
          <a:xfrm>
            <a:off x="914398" y="2039111"/>
            <a:ext cx="4213861" cy="3840480"/>
          </a:xfrm>
        </p:spPr>
        <p:txBody>
          <a:bodyPr/>
          <a:lstStyle/>
          <a:p>
            <a:r>
              <a:rPr lang="en-IN" b="1" dirty="0"/>
              <a:t>Impact statement</a:t>
            </a:r>
            <a:endParaRPr lang="en-IN" dirty="0"/>
          </a:p>
          <a:p>
            <a:r>
              <a:rPr lang="en-IN" dirty="0" err="1"/>
              <a:t>FoodWise</a:t>
            </a:r>
            <a:r>
              <a:rPr lang="en-IN" dirty="0"/>
              <a:t> helps cafeterias turn food waste from an invisible problem into measurable action. By recording waste, guiding correct segregation, using customer feedback, and identifying operational patterns, the platform helps institutions reduce avoidable food waste.</a:t>
            </a:r>
          </a:p>
          <a:p>
            <a:endParaRPr lang="en-US" dirty="0"/>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
        <p:nvSpPr>
          <p:cNvPr id="4" name="Content Placeholder 3">
            <a:extLst>
              <a:ext uri="{FF2B5EF4-FFF2-40B4-BE49-F238E27FC236}">
                <a16:creationId xmlns:a16="http://schemas.microsoft.com/office/drawing/2014/main" id="{4D8B56F2-A55F-8B63-DE4C-0630BAD6240F}"/>
              </a:ext>
            </a:extLst>
          </p:cNvPr>
          <p:cNvSpPr>
            <a:spLocks noGrp="1"/>
          </p:cNvSpPr>
          <p:nvPr>
            <p:ph sz="quarter" idx="13"/>
          </p:nvPr>
        </p:nvSpPr>
        <p:spPr>
          <a:xfrm>
            <a:off x="5505571" y="2028706"/>
            <a:ext cx="5911360" cy="3840480"/>
          </a:xfrm>
        </p:spPr>
        <p:txBody>
          <a:bodyPr/>
          <a:lstStyle/>
          <a:p>
            <a:pPr marL="0" indent="0">
              <a:buNone/>
            </a:pPr>
            <a:r>
              <a:rPr lang="en-IN" b="1" dirty="0"/>
              <a:t>Who benefits?</a:t>
            </a:r>
            <a:endParaRPr lang="en-IN" dirty="0"/>
          </a:p>
          <a:p>
            <a:pPr lvl="0"/>
            <a:r>
              <a:rPr lang="en-IN" b="1" dirty="0"/>
              <a:t>Students:</a:t>
            </a:r>
            <a:r>
              <a:rPr lang="en-IN" dirty="0"/>
              <a:t> Better portions and improved meals</a:t>
            </a:r>
          </a:p>
          <a:p>
            <a:pPr lvl="0"/>
            <a:r>
              <a:rPr lang="en-IN" b="1" dirty="0"/>
              <a:t>Canteen staff:</a:t>
            </a:r>
            <a:r>
              <a:rPr lang="en-IN" dirty="0"/>
              <a:t> Clearer disposal guidance and easier record-keeping</a:t>
            </a:r>
          </a:p>
          <a:p>
            <a:pPr lvl="0"/>
            <a:r>
              <a:rPr lang="en-IN" b="1" dirty="0"/>
              <a:t>Managers:</a:t>
            </a:r>
            <a:r>
              <a:rPr lang="en-IN" dirty="0"/>
              <a:t> Better planning, lower waste, and useful reports</a:t>
            </a:r>
          </a:p>
          <a:p>
            <a:pPr lvl="0"/>
            <a:r>
              <a:rPr lang="en-IN" b="1" dirty="0"/>
              <a:t>Environment:</a:t>
            </a:r>
            <a:r>
              <a:rPr lang="en-IN" dirty="0"/>
              <a:t> Less food waste in landfills and more potential for composting</a:t>
            </a:r>
          </a:p>
          <a:p>
            <a:pPr lvl="0"/>
            <a:r>
              <a:rPr lang="en-IN" b="1" dirty="0"/>
              <a:t>Institution:</a:t>
            </a:r>
            <a:r>
              <a:rPr lang="en-IN" dirty="0"/>
              <a:t> Stronger progress toward SDG 12</a:t>
            </a:r>
          </a:p>
          <a:p>
            <a:pPr marL="0" indent="0">
              <a:buNone/>
            </a:pPr>
            <a:endParaRPr lang="en-IN" dirty="0"/>
          </a:p>
        </p:txBody>
      </p:sp>
    </p:spTree>
    <p:extLst>
      <p:ext uri="{BB962C8B-B14F-4D97-AF65-F5344CB8AC3E}">
        <p14:creationId xmlns:p14="http://schemas.microsoft.com/office/powerpoint/2010/main" val="53780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914400" y="914400"/>
            <a:ext cx="10332720" cy="5029200"/>
          </a:xfrm>
        </p:spPr>
        <p:txBody>
          <a:bodyPr/>
          <a:lstStyle/>
          <a:p>
            <a:r>
              <a:rPr lang="en-US" dirty="0"/>
              <a:t>                                  Thank you</a:t>
            </a:r>
            <a:br>
              <a:rPr lang="en-US" dirty="0"/>
            </a:br>
            <a:r>
              <a:rPr lang="en-US" dirty="0"/>
              <a:t>      </a:t>
            </a:r>
            <a:r>
              <a:rPr lang="en-IN" sz="2800" dirty="0"/>
              <a:t>“Measure waste today. Improve every meal tomorrow.”</a:t>
            </a:r>
            <a:endParaRPr lang="en-US" sz="2800"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{9E0A1E05-5608-4EC2-ACFB-A2033AC3E719}TF1ed9553b-00c4-4092-846a-c8f7f2908f3beecd942f_win32-8e33096c3cfc</Template>
  <TotalTime>47</TotalTime>
  <Words>887</Words>
  <Application>Microsoft Office PowerPoint</Application>
  <PresentationFormat>Widescreen</PresentationFormat>
  <Paragraphs>120</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Courier New</vt:lpstr>
      <vt:lpstr>Gill Sans Nova Light</vt:lpstr>
      <vt:lpstr>Sagona Book</vt:lpstr>
      <vt:lpstr>Custom</vt:lpstr>
      <vt:lpstr>  FoodWise: AI-Powered Food Waste Segregation &amp; Reduction Assistant                                                                                                                                                                 VADDI  SRI  KANAKADURGA  PRIYAHASINI                                                                                                                                                                           SDG Alignment: SDG 12 — Responsible Consumption and Production </vt:lpstr>
      <vt:lpstr>Project Description</vt:lpstr>
      <vt:lpstr>Food waste in cafeterias is often not measured or properly segregated. As a result:   1. Edible surplus may be discarded unnecessarily.  2. Organic waste gets mixed with packaging and general waste.  3. Overproduction and large portions go unnoticed.  4.Food service teams lack data to improve menu planning.  5. More waste reaches landfill instead of composting or recovery streams.     Problem statement: “How can cafeterias use intelligent, data-driven support to correctly segregate food waste and reduce avoidable waste?” </vt:lpstr>
      <vt:lpstr>AI Solution Overview</vt:lpstr>
      <vt:lpstr>Target Users :</vt:lpstr>
      <vt:lpstr>FoodWise Prototype Features :</vt:lpstr>
      <vt:lpstr>FoodWise workflow :</vt:lpstr>
      <vt:lpstr>Responsible AI Considerations :</vt:lpstr>
      <vt:lpstr>                                     Expected Impact</vt:lpstr>
      <vt:lpstr>Impact Statement &amp; Conclusion </vt:lpstr>
      <vt:lpstr>                                  Thank you       “Measure waste today. Improve every meal tomorrow.”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Kanakadurga Priyahasini Vaddi</dc:creator>
  <cp:lastModifiedBy>Sri Kanakadurga Priyahasini Vaddi</cp:lastModifiedBy>
  <cp:revision>1</cp:revision>
  <dcterms:created xsi:type="dcterms:W3CDTF">2026-09-17T14:19:52Z</dcterms:created>
  <dcterms:modified xsi:type="dcterms:W3CDTF">2026-09-17T15:07:11Z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